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Raleway" pitchFamily="2" charset="0"/>
      <p:regular r:id="rId17"/>
      <p:bold r:id="rId18"/>
      <p:italic r:id="rId19"/>
      <p:boldItalic r:id="rId20"/>
    </p:embeddedFont>
    <p:embeddedFont>
      <p:font typeface="Raleway Light" pitchFamily="2" charset="0"/>
      <p:regular r:id="rId21"/>
      <p: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  <p:embeddedFont>
      <p:font typeface="Roboto Bold" panose="02000000000000000000" pitchFamily="2" charset="0"/>
      <p:regular r:id="rId27"/>
      <p:bold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362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8396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Тесты по Swagger: от документации до Collection Runner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77938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Практический курс для студентов СПО 4 курса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2584450"/>
            <a:ext cx="10868745" cy="2183110"/>
          </a:xfrm>
          <a:prstGeom prst="roundRect">
            <a:avLst>
              <a:gd name="adj" fmla="val 318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2590800"/>
            <a:ext cx="5428023" cy="1217513"/>
          </a:xfrm>
          <a:custGeom>
            <a:avLst/>
            <a:gdLst/>
            <a:ahLst/>
            <a:cxnLst/>
            <a:rect l="l" t="t" r="r" b="b"/>
            <a:pathLst>
              <a:path w="5428023" h="1217513">
                <a:moveTo>
                  <a:pt x="57887" y="0"/>
                </a:moveTo>
                <a:lnTo>
                  <a:pt x="5428023" y="0"/>
                </a:lnTo>
                <a:lnTo>
                  <a:pt x="5428023" y="1217513"/>
                </a:lnTo>
                <a:lnTo>
                  <a:pt x="0" y="1217513"/>
                </a:lnTo>
                <a:lnTo>
                  <a:pt x="0" y="57888"/>
                </a:lnTo>
                <a:arcTo wR="57887" hR="57888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6" name="Text 4"/>
          <p:cNvSpPr/>
          <p:nvPr/>
        </p:nvSpPr>
        <p:spPr>
          <a:xfrm>
            <a:off x="833119" y="2756098"/>
            <a:ext cx="50974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Инструмент №1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3119" y="3113782"/>
            <a:ext cx="509743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Swagger Editor (Petstore API)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jdegre.github.io/editor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5848" y="2590800"/>
            <a:ext cx="5428023" cy="1217513"/>
          </a:xfrm>
          <a:custGeom>
            <a:avLst/>
            <a:gdLst/>
            <a:ahLst/>
            <a:cxnLst/>
            <a:rect l="l" t="t" r="r" b="b"/>
            <a:pathLst>
              <a:path w="5428023" h="1217513">
                <a:moveTo>
                  <a:pt x="0" y="0"/>
                </a:moveTo>
                <a:lnTo>
                  <a:pt x="5370136" y="0"/>
                </a:lnTo>
                <a:arcTo wR="57887" hR="57888" stAng="16200000" swAng="5400000"/>
                <a:lnTo>
                  <a:pt x="5428023" y="1217513"/>
                </a:lnTo>
                <a:lnTo>
                  <a:pt x="0" y="1217513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2590800"/>
            <a:ext cx="19050" cy="1217513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0" name="Text 8"/>
          <p:cNvSpPr/>
          <p:nvPr/>
        </p:nvSpPr>
        <p:spPr>
          <a:xfrm>
            <a:off x="6261142" y="2756098"/>
            <a:ext cx="50974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Инструмент №2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1142" y="3113782"/>
            <a:ext cx="509743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Postman Web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web.postman.co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825" y="3808313"/>
            <a:ext cx="5428023" cy="952897"/>
          </a:xfrm>
          <a:custGeom>
            <a:avLst/>
            <a:gdLst/>
            <a:ahLst/>
            <a:cxnLst/>
            <a:rect l="l" t="t" r="r" b="b"/>
            <a:pathLst>
              <a:path w="5428023" h="952897">
                <a:moveTo>
                  <a:pt x="0" y="0"/>
                </a:moveTo>
                <a:lnTo>
                  <a:pt x="5428023" y="0"/>
                </a:lnTo>
                <a:lnTo>
                  <a:pt x="5428023" y="952897"/>
                </a:lnTo>
                <a:lnTo>
                  <a:pt x="57887" y="952897"/>
                </a:lnTo>
                <a:arcTo wR="57887" hR="57888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825" y="3808313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4" name="Text 12"/>
          <p:cNvSpPr/>
          <p:nvPr/>
        </p:nvSpPr>
        <p:spPr>
          <a:xfrm>
            <a:off x="833119" y="3973612"/>
            <a:ext cx="50974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Формат занятия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119" y="4331295"/>
            <a:ext cx="50974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Демонстрация преподавателя → Практика студентов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95848" y="3808313"/>
            <a:ext cx="5428023" cy="952897"/>
          </a:xfrm>
          <a:custGeom>
            <a:avLst/>
            <a:gdLst/>
            <a:ahLst/>
            <a:cxnLst/>
            <a:rect l="l" t="t" r="r" b="b"/>
            <a:pathLst>
              <a:path w="5428023" h="952897">
                <a:moveTo>
                  <a:pt x="0" y="0"/>
                </a:moveTo>
                <a:lnTo>
                  <a:pt x="5428023" y="0"/>
                </a:lnTo>
                <a:lnTo>
                  <a:pt x="5428023" y="895008"/>
                </a:lnTo>
                <a:arcTo wR="57887" hR="57888" stAng="0" swAng="5400000"/>
                <a:lnTo>
                  <a:pt x="0" y="952897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3808313"/>
            <a:ext cx="19050" cy="952897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3808313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9" name="Text 17"/>
          <p:cNvSpPr/>
          <p:nvPr/>
        </p:nvSpPr>
        <p:spPr>
          <a:xfrm>
            <a:off x="6261142" y="3973612"/>
            <a:ext cx="50974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Итог занятия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1142" y="4331295"/>
            <a:ext cx="50974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Коллекция из 3+ запросов с тестами в Collection Runner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1475" y="4953595"/>
            <a:ext cx="10868745" cy="925909"/>
          </a:xfrm>
          <a:prstGeom prst="roundRect">
            <a:avLst>
              <a:gd name="adj" fmla="val 7502"/>
            </a:avLst>
          </a:prstGeom>
          <a:solidFill>
            <a:srgbClr val="B6D6FC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193308"/>
            <a:ext cx="206667" cy="16529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98731" y="5160169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Формат мастер-класса: нечётные слайды — демонстрация преподавателя, чётные слайды — самостоятельная практика студентов. Финал — скриншот из Collection Runner.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05817"/>
            <a:ext cx="2799585" cy="227806"/>
          </a:xfrm>
          <a:prstGeom prst="roundRect">
            <a:avLst>
              <a:gd name="adj" fmla="val 22107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51365" y="550763"/>
            <a:ext cx="3229390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СЛАЙД 1 · ДЕМОНСТРАЦИЯ ПРЕПОДАВАТЕЛЯ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87896"/>
            <a:ext cx="10868745" cy="46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Что такое Swagger и зачем он нужен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553528" y="1460004"/>
            <a:ext cx="5467412" cy="4892179"/>
          </a:xfrm>
          <a:prstGeom prst="roundRect">
            <a:avLst>
              <a:gd name="adj" fmla="val 2206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03344" y="1595834"/>
            <a:ext cx="5167779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Swagger (OpenAPI)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03344" y="1965821"/>
            <a:ext cx="51677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Стандарт для описания REST API. Задаёт единый формат документирования endpoints, параметров, типов данных и кодов ответов. Позволяет командам работать с API без разночтений.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03344" y="2787452"/>
            <a:ext cx="5167779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Ключевые преимущества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03344" y="3157438"/>
            <a:ext cx="5167779" cy="1056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Единая интерактивная документация для всей команды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Автоматическая генерация клиентских библиотек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Встроенное тестирование прямо в браузере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Валидация запросов и ответов по схеме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85053" y="1595834"/>
            <a:ext cx="5251517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Petstore API — учебный полигон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285053" y="1965821"/>
            <a:ext cx="52515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Petstore — официальный демо-проект Swagger. Содержит полный набор CRUD-операций над сущностью «питомец», что делает его идеальным для изучения всех методов REST.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85053" y="2804418"/>
            <a:ext cx="2557795" cy="1164927"/>
          </a:xfrm>
          <a:prstGeom prst="roundRect">
            <a:avLst>
              <a:gd name="adj" fmla="val 540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3919" y="2973288"/>
            <a:ext cx="2220063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53919" y="3343275"/>
            <a:ext cx="22200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Получить питомца по ID или по статусу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78675" y="2804418"/>
            <a:ext cx="2557895" cy="1164927"/>
          </a:xfrm>
          <a:prstGeom prst="roundRect">
            <a:avLst>
              <a:gd name="adj" fmla="val 540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7541" y="2973288"/>
            <a:ext cx="2220162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147541" y="3343275"/>
            <a:ext cx="222016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Создать нового питомца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85053" y="4105176"/>
            <a:ext cx="2557795" cy="936327"/>
          </a:xfrm>
          <a:prstGeom prst="roundRect">
            <a:avLst>
              <a:gd name="adj" fmla="val 672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3919" y="4274046"/>
            <a:ext cx="2220063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53919" y="4644033"/>
            <a:ext cx="22200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Обновить данные питомца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78675" y="4105176"/>
            <a:ext cx="2557895" cy="936327"/>
          </a:xfrm>
          <a:prstGeom prst="roundRect">
            <a:avLst>
              <a:gd name="adj" fmla="val 672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7541" y="4274046"/>
            <a:ext cx="2220162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DELETE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47541" y="4644033"/>
            <a:ext cx="222016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Удалить питомца по ID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85053" y="5194300"/>
            <a:ext cx="5251517" cy="1005086"/>
          </a:xfrm>
          <a:prstGeom prst="roundRect">
            <a:avLst>
              <a:gd name="adj" fmla="val 6263"/>
            </a:avLst>
          </a:prstGeom>
          <a:solidFill>
            <a:srgbClr val="E1E1EA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869" y="5401469"/>
            <a:ext cx="187320" cy="1498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72006" y="5353943"/>
            <a:ext cx="46147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Демонстрация:</a:t>
            </a: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Откройте https://jdegre.github.io/editor/ и разберите структуру Petstore API — разделы, endpoints, схемы данных.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80219"/>
            <a:ext cx="2158351" cy="231676"/>
          </a:xfrm>
          <a:prstGeom prst="roundRect">
            <a:avLst>
              <a:gd name="adj" fmla="val 22113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52952" y="525959"/>
            <a:ext cx="2584981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СЛАЙД 2 · ПРАКТИКА СТУДЕНТОВ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68052"/>
            <a:ext cx="10868745" cy="476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Изучение Swagger-документации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1475" y="1595834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Ваше задание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1475" y="1974552"/>
            <a:ext cx="5248441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Откройте Swagger Editor с Petstore API и самостоятельно изучите структуру документации. Ориентируйтесь на три ключевых endpoint'а: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01516"/>
            <a:ext cx="5248441" cy="11905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09119" y="2772966"/>
            <a:ext cx="4829352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GET /pet/{petId}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09119" y="3151684"/>
            <a:ext cx="4829352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Получить питомца по идентификатору. Параметр: petId (integer, path, required).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932535"/>
            <a:ext cx="5248441" cy="11905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09119" y="4103985"/>
            <a:ext cx="4829352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POST /pet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09119" y="4482703"/>
            <a:ext cx="4829352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Создать нового питомца. Тело запроса: JSON-объект со схемой Pet.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263555"/>
            <a:ext cx="5248441" cy="9560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9119" y="5435005"/>
            <a:ext cx="4829352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DELETE /pet/{petId}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909119" y="5813723"/>
            <a:ext cx="4829352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Удалить питомца по ID. Параметр: petId (integer, path, required).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288129" y="1595834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На что обратить внимание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288129" y="1992114"/>
            <a:ext cx="342991" cy="342999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345228" y="2020639"/>
            <a:ext cx="228693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771610" y="2044502"/>
            <a:ext cx="4764960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Параметры запроса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771610" y="2423220"/>
            <a:ext cx="4764960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Тип (path / query / body), обязательность, формат данных (integer, string, array).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88129" y="3173214"/>
            <a:ext cx="342991" cy="342999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345228" y="3201739"/>
            <a:ext cx="228693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771610" y="3225602"/>
            <a:ext cx="4764960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Коды ответов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771610" y="3604320"/>
            <a:ext cx="4764960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200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успех, </a:t>
            </a: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400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неверный запрос, </a:t>
            </a: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404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не найдено. Каждый код задокументирован отдельно.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288129" y="4354314"/>
            <a:ext cx="342991" cy="342999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345228" y="4382839"/>
            <a:ext cx="228693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6771610" y="4406702"/>
            <a:ext cx="4764960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Примеры request / response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771610" y="4785420"/>
            <a:ext cx="4764960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Swagger показывает образцы тел запросов и ответов в формате JSON — используйте их как шаблоны.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288129" y="5412383"/>
            <a:ext cx="5248441" cy="798116"/>
          </a:xfrm>
          <a:prstGeom prst="roundRect">
            <a:avLst>
              <a:gd name="adj" fmla="val 8024"/>
            </a:avLst>
          </a:prstGeom>
          <a:solidFill>
            <a:srgbClr val="E1E1EA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0525" y="5622727"/>
            <a:ext cx="190495" cy="1524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783416" y="5576987"/>
            <a:ext cx="4600758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⏱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Время на задание: 5 минут.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После — обсуждение структуры API совместно с преподавателем.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20130"/>
            <a:ext cx="3089396" cy="251420"/>
          </a:xfrm>
          <a:prstGeom prst="roundRect">
            <a:avLst>
              <a:gd name="adj" fmla="val 22103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769739"/>
            <a:ext cx="350054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СЛАЙД 3 · ДЕМОНСТРАЦИЯ ПРЕПОДАВАТЕЛЯ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03763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Создание коллекции в Postman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80240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2064345"/>
            <a:ext cx="3512653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185095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Создайте коллекцию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1475" y="2542778"/>
            <a:ext cx="3512653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Откройте web.postman.co → "New" → "Collection". Назовите коллекцию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"Petstore Tests"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Коллекция — это папка для хранения связанных запросов.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39422" y="180240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9422" y="2064345"/>
            <a:ext cx="351275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4339422" y="2185095"/>
            <a:ext cx="35127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Добавьте запрос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39422" y="2542778"/>
            <a:ext cx="3512752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Внутри коллекции нажмите "Add request". Выберите метод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GET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введите URL: </a:t>
            </a:r>
            <a:r>
              <a:rPr lang="en-US" sz="13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https://petstore.swagger.io/v2/pet/1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17468" y="180240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7468" y="2064345"/>
            <a:ext cx="3512653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8017468" y="2185095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Установите базовый URL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17468" y="2542778"/>
            <a:ext cx="3512653" cy="106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Базовый адрес API: </a:t>
            </a:r>
            <a:r>
              <a:rPr lang="en-US" sz="13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https://petstore.swagger.io/v2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Все endpoint'ы Petstore формируются относительно этого префикса.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1475" y="389691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1475" y="4158853"/>
            <a:ext cx="5351626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4279602"/>
            <a:ext cx="535162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Отправьте запрос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1475" y="4637286"/>
            <a:ext cx="535162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Нажмите кнопку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"Send"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В нижней панели появится JSON-ответ с данными питомца: id, name, status, photoUrls, category.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8395" y="389691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8395" y="4158853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3" name="Text 21"/>
          <p:cNvSpPr/>
          <p:nvPr/>
        </p:nvSpPr>
        <p:spPr>
          <a:xfrm>
            <a:off x="6178395" y="4279602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Проверьте результат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8395" y="4637286"/>
            <a:ext cx="535172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строке статуса должно отображаться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200 OK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Время ответа — как правило, менее 500 мс. Сохраните запрос (Ctrl+S).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1475" y="5476577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B6FCB8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716290"/>
            <a:ext cx="206667" cy="16529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98731" y="5683151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Ожидаемый результат: статус 200 OK, тело ответа содержит JSON-объект с полями id, name, status, photoUrls.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86370"/>
            <a:ext cx="2233755" cy="239415"/>
          </a:xfrm>
          <a:prstGeom prst="roundRect">
            <a:avLst>
              <a:gd name="adj" fmla="val 22123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56028" y="533598"/>
            <a:ext cx="2654234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СЛАЙД 4 · ПРАКТИКА СТУДЕНТОВ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85813"/>
            <a:ext cx="10868745" cy="49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Создание первого запроса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390416" y="1456631"/>
            <a:ext cx="5469098" cy="4867771"/>
          </a:xfrm>
          <a:prstGeom prst="roundRect">
            <a:avLst>
              <a:gd name="adj" fmla="val 2332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6" name="Text 4"/>
          <p:cNvSpPr/>
          <p:nvPr/>
        </p:nvSpPr>
        <p:spPr>
          <a:xfrm>
            <a:off x="705527" y="1653977"/>
            <a:ext cx="5153987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Пошаговое задание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05527" y="2069207"/>
            <a:ext cx="354599" cy="354608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4610" y="2098725"/>
            <a:ext cx="23643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210339" y="2123380"/>
            <a:ext cx="464917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Создайте коллекцию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210339" y="2519859"/>
            <a:ext cx="464917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Название: </a:t>
            </a:r>
            <a:r>
              <a:rPr lang="en-US" sz="12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"My Petstore Collection"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5527" y="3066554"/>
            <a:ext cx="354599" cy="354608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4610" y="3096071"/>
            <a:ext cx="23643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1210339" y="3120727"/>
            <a:ext cx="464917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Добавьте запрос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210339" y="3517205"/>
            <a:ext cx="4649175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Метод: GET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URL: </a:t>
            </a:r>
            <a:r>
              <a:rPr lang="en-US" sz="1200" dirty="0">
                <a:solidFill>
                  <a:srgbClr val="FFFFFF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https://petstore.swagger.io/v2/</a:t>
            </a:r>
            <a:r>
              <a:rPr lang="en-US" sz="1200">
                <a:solidFill>
                  <a:srgbClr val="FFFFFF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pet/3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5527" y="4322862"/>
            <a:ext cx="354599" cy="354608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4610" y="4352379"/>
            <a:ext cx="23643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1210339" y="4377035"/>
            <a:ext cx="464917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Отправьте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210339" y="4773513"/>
            <a:ext cx="464917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Убедитесь в получении статуса </a:t>
            </a:r>
            <a:r>
              <a:rPr lang="en-US" sz="12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200 OK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5527" y="5320209"/>
            <a:ext cx="354599" cy="354608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4610" y="5349726"/>
            <a:ext cx="23643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1210339" y="5374382"/>
            <a:ext cx="464917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Сохраните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210339" y="5770860"/>
            <a:ext cx="464917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Сохраните запрос в вашу коллекцию (Ctrl+S)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4478" y="1653977"/>
            <a:ext cx="524209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Что должно быть в ответе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294478" y="2050455"/>
            <a:ext cx="5242092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Проверьте структуру JSON-ответа. Все поля ниже должны присутствовать: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4478" y="2711946"/>
          <a:ext cx="5242092" cy="2221055"/>
        </p:xfrm>
        <a:graphic>
          <a:graphicData uri="http://schemas.openxmlformats.org/drawingml/2006/table">
            <a:tbl>
              <a:tblPr/>
              <a:tblGrid>
                <a:gridCol w="1747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7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7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23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Поле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Тип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Пример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4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id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integer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4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name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string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"doggie"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4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status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string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"available"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3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photoUrls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array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["url1"]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294478" y="5114727"/>
            <a:ext cx="5242092" cy="1087834"/>
          </a:xfrm>
          <a:prstGeom prst="roundRect">
            <a:avLst>
              <a:gd name="adj" fmla="val 6086"/>
            </a:avLst>
          </a:prstGeom>
          <a:solidFill>
            <a:srgbClr val="E1E1EA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34" y="5337870"/>
            <a:ext cx="197044" cy="157559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806633" y="5289252"/>
            <a:ext cx="4572382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⏱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Время: 5 минут.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Если статус отличается от 200 — попробуйте другой petId (например, 2 или 3). Petstore — публичный API, данные могут меняться.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4747"/>
            <a:ext cx="2315410" cy="188516"/>
          </a:xfrm>
          <a:prstGeom prst="roundRect">
            <a:avLst>
              <a:gd name="adj" fmla="val 22109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35887" y="551954"/>
            <a:ext cx="2776170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СЛАЙД 5 · ДЕМОНСТРАЦИЯ ПРЕПОДАВАТЕЛЯ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740470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Написание тестов в Postman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360587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Где писать тесты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1647329"/>
            <a:ext cx="5283068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Откройте вкладку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"Scripts"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(в некоторых версиях — "Tests") внутри вашего запроса GET /pet/1. Тесты пишутся на JavaScript с использованием библиотеки </a:t>
            </a: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pm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(Postman API).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61475" y="2093913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Три базовых теста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92263"/>
            <a:ext cx="5283068" cy="11001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8994" y="2528987"/>
            <a:ext cx="495882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Тест 1: Статус ответа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8994" y="2815729"/>
            <a:ext cx="4958829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pm.test("Status is 200", () =&gt; {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pm.response.to.have.status(200);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585369"/>
            <a:ext cx="5283068" cy="12801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8994" y="3722092"/>
            <a:ext cx="495882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Тест 2: Наличие поля id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48994" y="4008834"/>
            <a:ext cx="4958829" cy="71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pm.test("Response has id", () =&gt; {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pm.expect(pm.response.json().id)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.to.exist;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958457"/>
            <a:ext cx="5283068" cy="12801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8994" y="5095180"/>
            <a:ext cx="495882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Тест 3: Тип поля name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48994" y="5381923"/>
            <a:ext cx="4958829" cy="71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pm.test("Name is string", () =&gt; {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pm.expect(pm.response.json().name)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.to.be.a('string');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6253502" y="1360587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Синтаксис Postman (pm API)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3502" y="1658938"/>
          <a:ext cx="5283068" cy="2161129"/>
        </p:xfrm>
        <a:graphic>
          <a:graphicData uri="http://schemas.openxmlformats.org/drawingml/2006/table">
            <a:tbl>
              <a:tblPr/>
              <a:tblGrid>
                <a:gridCol w="2641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0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Конструкция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Описание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5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pm.test(name, fn)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Объявить тест с именем и функцией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5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pm.response.to.have.status(N)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Проверить HTTP-статус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5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pm.response.json()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Получить тело ответа как объект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5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pm.expect(val).to.exist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Убедиться, что значение не undefined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5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.to.be.a('string')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Проверить тип данных значения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3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.to.equal(X)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Проверить точное равенство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Shape 13"/>
          <p:cNvSpPr/>
          <p:nvPr/>
        </p:nvSpPr>
        <p:spPr>
          <a:xfrm>
            <a:off x="6253502" y="3937397"/>
            <a:ext cx="5283068" cy="576461"/>
          </a:xfrm>
          <a:prstGeom prst="roundRect">
            <a:avLst>
              <a:gd name="adj" fmla="val 9038"/>
            </a:avLst>
          </a:prstGeom>
          <a:solidFill>
            <a:srgbClr val="B6FCB8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522" y="4079776"/>
            <a:ext cx="154976" cy="12402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656519" y="4051995"/>
            <a:ext cx="475603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После нажатия Send внизу появится вкладка "Test Results". Зелёные PASS = тесты прошли, красные FAIL = нужна правка.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5357"/>
            <a:ext cx="2049312" cy="219869"/>
          </a:xfrm>
          <a:prstGeom prst="roundRect">
            <a:avLst>
              <a:gd name="adj" fmla="val 22115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48289" y="518716"/>
            <a:ext cx="2485268" cy="13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СЛАЙД 6 · ПРАКТИКА СТУДЕНТОВ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45827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Написание тестов — самостоятельная работа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57298" y="1387971"/>
            <a:ext cx="5466221" cy="4994672"/>
          </a:xfrm>
          <a:prstGeom prst="roundRect">
            <a:avLst>
              <a:gd name="adj" fmla="val 2086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01955" y="1514574"/>
            <a:ext cx="517690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1955" y="1867198"/>
            <a:ext cx="5176906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Добавьте тесты к вашему GET-запросу. Минимум — </a:t>
            </a: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 теста</a:t>
            </a: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Откройте вкладку "Scripts" и напишите их по образцу преподавателя.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1955" y="2443758"/>
            <a:ext cx="325529" cy="325537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6177" y="2470845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54084" y="2493466"/>
            <a:ext cx="472477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Код ответа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54084" y="2846090"/>
            <a:ext cx="4724778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Проверьте, что статус равен </a:t>
            </a: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1955" y="3316387"/>
            <a:ext cx="325529" cy="325537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6177" y="3343473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54084" y="3366095"/>
            <a:ext cx="472477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Поле "name"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54084" y="3718719"/>
            <a:ext cx="4724778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Проверьте наличие поля name в ответе (</a:t>
            </a:r>
            <a:r>
              <a:rPr lang="en-US" sz="1100" dirty="0">
                <a:solidFill>
                  <a:srgbClr val="FFFFFF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.to.exist</a:t>
            </a: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1955" y="4195366"/>
            <a:ext cx="325529" cy="325537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177" y="4222452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4084" y="4245074"/>
            <a:ext cx="472477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Значение "status"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4084" y="4597698"/>
            <a:ext cx="4724778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Проверьте, что значение поля status равно </a:t>
            </a: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"available"</a:t>
            </a: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или </a:t>
            </a: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"pending"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78703" y="1514574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Подсказка: проверка двух значений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78703" y="1867198"/>
            <a:ext cx="5257867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проверки одного из двух допустимых значений используйте метод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.to.be.oneOf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78703" y="2450108"/>
            <a:ext cx="5257867" cy="1678781"/>
          </a:xfrm>
          <a:prstGeom prst="roundRect">
            <a:avLst>
              <a:gd name="adj" fmla="val 3621"/>
            </a:avLst>
          </a:prstGeom>
          <a:solidFill>
            <a:srgbClr val="F2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6452332" y="2594769"/>
            <a:ext cx="4910610" cy="1389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pm.test("Status is valid", () =&gt; {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status = pm.response.json().status;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pm.expect(status).to.be.oneOf(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["available", "pending"]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78703" y="4271268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Чек-лист перед сохранением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78703" y="4623891"/>
            <a:ext cx="5257867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Все тесты отображают статус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PASS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(зелёный)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консоли нет ошибок выполнения JavaScript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Запрос сохранён в коллекцию (Ctrl+S)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78703" y="5506045"/>
            <a:ext cx="5257867" cy="734219"/>
          </a:xfrm>
          <a:prstGeom prst="roundRect">
            <a:avLst>
              <a:gd name="adj" fmla="val 8278"/>
            </a:avLst>
          </a:prstGeom>
          <a:solidFill>
            <a:srgbClr val="E1E1EA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360" y="5694561"/>
            <a:ext cx="180871" cy="14466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748889" y="5656064"/>
            <a:ext cx="4643024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⏱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Время: 7 минут.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Если тест падает — перечитайте ответ JSON и сверьте фактическое значение поля с ожидаемым.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09588"/>
            <a:ext cx="2607106" cy="211832"/>
          </a:xfrm>
          <a:prstGeom prst="roundRect">
            <a:avLst>
              <a:gd name="adj" fmla="val 22135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45114" y="551359"/>
            <a:ext cx="304941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СЛАЙД 7 · ДЕМОНСТРАЦИЯ ПРЕПОДАВАТЕЛЯ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68449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Создание и запуск Collection Runner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1475" y="1498798"/>
            <a:ext cx="526421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Как открыть Collection Runner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1475" y="1834455"/>
            <a:ext cx="5264217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левой панели найдите вашу коллекцию. Нажмите на </a:t>
            </a: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три точки (···)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рядом с её названием. В контекстном меню выберите </a:t>
            </a: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"Run collection"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1475" y="2363887"/>
            <a:ext cx="526421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Настройки запуска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61475" y="2714327"/>
            <a:ext cx="2573273" cy="1039118"/>
          </a:xfrm>
          <a:prstGeom prst="roundRect">
            <a:avLst>
              <a:gd name="adj" fmla="val 564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7323" y="2860179"/>
            <a:ext cx="228157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Iterations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7323" y="3195836"/>
            <a:ext cx="2281577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Количество итераций: </a:t>
            </a: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52418" y="2714327"/>
            <a:ext cx="2573273" cy="1039118"/>
          </a:xfrm>
          <a:prstGeom prst="roundRect">
            <a:avLst>
              <a:gd name="adj" fmla="val 564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8266" y="2860179"/>
            <a:ext cx="228157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Delay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98266" y="3195836"/>
            <a:ext cx="2281577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Задержка между запросами: </a:t>
            </a: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100 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1475" y="3871119"/>
            <a:ext cx="5264217" cy="833239"/>
          </a:xfrm>
          <a:prstGeom prst="roundRect">
            <a:avLst>
              <a:gd name="adj" fmla="val 703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7323" y="4016970"/>
            <a:ext cx="497252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Порядок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7323" y="4352627"/>
            <a:ext cx="497252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Запросы выполняются </a:t>
            </a: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сверху вниз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72353" y="1498798"/>
            <a:ext cx="526421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Что показывает отчёт Runner</a:t>
            </a:r>
            <a:endParaRPr lang="en-US" sz="13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2353" y="1849239"/>
          <a:ext cx="9143771" cy="914400"/>
        </p:xfrm>
        <a:graphic>
          <a:graphicData uri="http://schemas.openxmlformats.org/drawingml/2006/table">
            <a:tbl>
              <a:tblPr/>
              <a:tblGrid>
                <a:gridCol w="2632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2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Показатель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Значение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0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Passed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Число успешных тестов (зелёные ✓)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2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Failed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Число упавших тестов (красные ✗)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0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Total time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Общее время выполнения всех запросов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9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Request status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HTTP-статус каждого запроса в коллекции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6272353" y="4436765"/>
            <a:ext cx="526421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Экспорт результатов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272353" y="4772422"/>
            <a:ext cx="5264217" cy="61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После завершения сделайте </a:t>
            </a: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скриншот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экрана с результатами. На скриншоте должны быть видны: название коллекции, список запросов, зелёные галочки напротив каждого теста.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272353" y="5522516"/>
            <a:ext cx="5264217" cy="693341"/>
          </a:xfrm>
          <a:prstGeom prst="roundRect">
            <a:avLst>
              <a:gd name="adj" fmla="val 8453"/>
            </a:avLst>
          </a:prstGeom>
          <a:solidFill>
            <a:srgbClr val="B6FCB8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851" y="5698927"/>
            <a:ext cx="174422" cy="13950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725772" y="5663307"/>
            <a:ext cx="4671300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Зелёные галочки рядом с каждым тестом = успешное выполнение. Это и есть ваш главный артефакт для отчёта.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1692"/>
            <a:ext cx="1755930" cy="188516"/>
          </a:xfrm>
          <a:prstGeom prst="roundRect">
            <a:avLst>
              <a:gd name="adj" fmla="val 22109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35887" y="558899"/>
            <a:ext cx="2216690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СЛАЙД 8 · ПРАКТИКА СТУДЕНТОВ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747415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Запуск Collection Runner — самостоятельная работа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72180" y="1274564"/>
            <a:ext cx="5461657" cy="5061744"/>
          </a:xfrm>
          <a:prstGeom prst="roundRect">
            <a:avLst>
              <a:gd name="adj" fmla="val 176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96201" y="1367532"/>
            <a:ext cx="52136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Задание — 5 минут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6201" y="1665883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96201" y="1863923"/>
            <a:ext cx="5213616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696201" y="1951335"/>
            <a:ext cx="52136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Откройте Runner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6201" y="2238077"/>
            <a:ext cx="5213616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Три точки (···) рядом с коллекцией → "Run collection"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96201" y="2597646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6201" y="2795687"/>
            <a:ext cx="5213616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696201" y="2883098"/>
            <a:ext cx="52136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Запустите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6201" y="3169841"/>
            <a:ext cx="5213616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Нажмите синюю кнопку </a:t>
            </a: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"Run [название]"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6201" y="3529409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6201" y="3727450"/>
            <a:ext cx="5213616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696201" y="3814862"/>
            <a:ext cx="52136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Проверьте результаты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6201" y="4101604"/>
            <a:ext cx="5213616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Все тесты должны иметь статус </a:t>
            </a: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PASS</a:t>
            </a: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(зелёный)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6201" y="4461173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6201" y="4659213"/>
            <a:ext cx="5213616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01" y="4746625"/>
            <a:ext cx="52136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Сделайте скриншот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6201" y="5033367"/>
            <a:ext cx="5213616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 экране должны быть видны запросы и статусы тестов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6201" y="5392936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6201" y="5590977"/>
            <a:ext cx="5213616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5" name="Text 23"/>
          <p:cNvSpPr/>
          <p:nvPr/>
        </p:nvSpPr>
        <p:spPr>
          <a:xfrm>
            <a:off x="696201" y="5678388"/>
            <a:ext cx="52136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Сохраните файл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6201" y="5965130"/>
            <a:ext cx="5213616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Скриншот понадобится для финального отчёта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53502" y="1367532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Диагностика ошибок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3502" y="1665883"/>
          <a:ext cx="9143771" cy="914400"/>
        </p:xfrm>
        <a:graphic>
          <a:graphicData uri="http://schemas.openxmlformats.org/drawingml/2006/table">
            <a:tbl>
              <a:tblPr/>
              <a:tblGrid>
                <a:gridCol w="1761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1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10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0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Проблема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Возможная причина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Решение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FAIL на проверке статуса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API вернул 404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Измените petId на другой (2, 3, 10)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8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FAIL на проверке поля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Опечатка в имени поля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Сверьтесь с реальным JSON ответа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8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Тест не виден в Runner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Запрос не сохранён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Нажмите Ctrl+S и повторите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6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Ошибка JS в скрипте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Синтаксическая ошибка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Проверьте скобки и точки с запятой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6253502" y="3992364"/>
            <a:ext cx="5283068" cy="576461"/>
          </a:xfrm>
          <a:prstGeom prst="roundRect">
            <a:avLst>
              <a:gd name="adj" fmla="val 9038"/>
            </a:avLst>
          </a:prstGeom>
          <a:solidFill>
            <a:srgbClr val="FCF2B5"/>
          </a:solidFill>
          <a:ln/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522" y="4134743"/>
            <a:ext cx="154976" cy="124023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656519" y="4106962"/>
            <a:ext cx="475603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Если ошибки не удаётся устранить — исправьте тест, сохраните, и запустите Runner повторно. Runner всегда выполняет актуальную сохранённую версию.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1933"/>
            <a:ext cx="2351326" cy="188516"/>
          </a:xfrm>
          <a:prstGeom prst="roundRect">
            <a:avLst>
              <a:gd name="adj" fmla="val 22109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35887" y="579140"/>
            <a:ext cx="2812087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СЛАЙД 9–10 · ФИНАЛЬНОЕ ЗАДАНИЕ + ИТОГИ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767655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Финальное задание и критерии оценки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72180" y="1294805"/>
            <a:ext cx="5461657" cy="5021163"/>
          </a:xfrm>
          <a:prstGeom prst="roundRect">
            <a:avLst>
              <a:gd name="adj" fmla="val 177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96201" y="1387773"/>
            <a:ext cx="52136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Что нужно сделать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6201" y="1674515"/>
            <a:ext cx="5213616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Добавьте в коллекцию ещё </a:t>
            </a: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 запроса с тестами</a:t>
            </a: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запустите Collection Runner со всеми запросами.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96201" y="2126357"/>
            <a:ext cx="279095" cy="279102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683" y="2149574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68262" y="2168922"/>
            <a:ext cx="484155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POST /pet — создание питомца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8262" y="2455664"/>
            <a:ext cx="4841555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Тело: JSON с полями name, status, photoUrls. Тесты: статус 200, поле id присутствует и является числом.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6201" y="2988965"/>
            <a:ext cx="279095" cy="279102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2683" y="3012182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68262" y="3031530"/>
            <a:ext cx="484155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DELETE /pet/{petId} — удаление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8262" y="3318272"/>
            <a:ext cx="4841555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Используйте ID из ответа на POST. Тесты: статус 200, сообщение об успехе в теле ответа.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6201" y="3770114"/>
            <a:ext cx="5213616" cy="576461"/>
          </a:xfrm>
          <a:prstGeom prst="roundRect">
            <a:avLst>
              <a:gd name="adj" fmla="val 9038"/>
            </a:avLst>
          </a:prstGeom>
          <a:solidFill>
            <a:srgbClr val="34344B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21" y="3912493"/>
            <a:ext cx="154976" cy="12402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99217" y="3884712"/>
            <a:ext cx="4686580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📸</a:t>
            </a: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Сделайте финальный скриншот Collection Runner и </a:t>
            </a: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отправьте его в чат</a:t>
            </a: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для получения оценки.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253502" y="1387773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Критерии оценки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3502" y="1686123"/>
          <a:ext cx="9143771" cy="914400"/>
        </p:xfrm>
        <a:graphic>
          <a:graphicData uri="http://schemas.openxmlformats.org/drawingml/2006/table">
            <a:tbl>
              <a:tblPr/>
              <a:tblGrid>
                <a:gridCol w="2641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0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Критерий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Минимум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Количество запросов в коллекции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 и более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Тесты на каждый запрос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Минимум 2 теста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Результат Collection Runner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Все тесты PASS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Скриншот с результатами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Загружен в чат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6253502" y="3318073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Чему вы научились сегодня</a:t>
            </a:r>
            <a:endParaRPr lang="en-US" sz="12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502" y="3616424"/>
            <a:ext cx="2641534" cy="49609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77522" y="4205486"/>
            <a:ext cx="239349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Swagger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377522" y="4492228"/>
            <a:ext cx="239349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Чтение OpenAPI-документации</a:t>
            </a:r>
            <a:endParaRPr lang="en-US" sz="95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5036" y="3616424"/>
            <a:ext cx="2641534" cy="49609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19056" y="4205486"/>
            <a:ext cx="239349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Postman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019056" y="4492228"/>
            <a:ext cx="239349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 запросов и коллекций</a:t>
            </a:r>
            <a:endParaRPr lang="en-US" sz="9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3502" y="4913908"/>
            <a:ext cx="2641534" cy="49609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377522" y="5502970"/>
            <a:ext cx="239349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Тесты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6377522" y="5789712"/>
            <a:ext cx="239349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JavaScript-тесты на pm API</a:t>
            </a:r>
            <a:endParaRPr lang="en-US" sz="95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5036" y="4913908"/>
            <a:ext cx="2641534" cy="4960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19056" y="5502970"/>
            <a:ext cx="239349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Runner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9019056" y="5789712"/>
            <a:ext cx="239349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Автоматический прогон всей коллекции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1636</TotalTime>
  <Words>1619</Words>
  <Application>Microsoft Macintosh PowerPoint</Application>
  <PresentationFormat>Широкоэкранный</PresentationFormat>
  <Paragraphs>268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Raleway</vt:lpstr>
      <vt:lpstr>Arial</vt:lpstr>
      <vt:lpstr>Roboto Bold</vt:lpstr>
      <vt:lpstr>Noto Color Emoji</vt:lpstr>
      <vt:lpstr>Raleway Light</vt:lpstr>
      <vt:lpstr>Roboto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Елизавета Дружинина</cp:lastModifiedBy>
  <cp:revision>2</cp:revision>
  <dcterms:created xsi:type="dcterms:W3CDTF">2026-09-27T17:22:15Z</dcterms:created>
  <dcterms:modified xsi:type="dcterms:W3CDTF">2026-09-29T12:15:39Z</dcterms:modified>
</cp:coreProperties>
</file>